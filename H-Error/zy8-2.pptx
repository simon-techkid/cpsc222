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6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71" r:id="rId6"/>
    <p:sldId id="272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1"/>
    <p:restoredTop sz="94694"/>
  </p:normalViewPr>
  <p:slideViewPr>
    <p:cSldViewPr snapToGrid="0">
      <p:cViewPr varScale="1">
        <p:scale>
          <a:sx n="121" d="100"/>
          <a:sy n="121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6B77-C328-9745-AF18-039121E2F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E16A8-A616-D240-B69A-4ED9E096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9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E16A8-A616-D240-B69A-4ED9E096E4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64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0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8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0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4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3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1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7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4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5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44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7094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80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290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80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49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5B95027-4255-49E7-9841-CD21BCC99996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8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66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8221A89-FE35-4C46-8874-69154D2A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olorized light photo effects">
            <a:extLst>
              <a:ext uri="{FF2B5EF4-FFF2-40B4-BE49-F238E27FC236}">
                <a16:creationId xmlns:a16="http://schemas.microsoft.com/office/drawing/2014/main" id="{8353406B-5BBF-B524-6E1F-8BC9E1F093F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t="20225" r="9091" b="3166"/>
          <a:stretch>
            <a:fillRect/>
          </a:stretch>
        </p:blipFill>
        <p:spPr>
          <a:xfrm>
            <a:off x="-3176" y="9"/>
            <a:ext cx="12192000" cy="685799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9ACC7A-6809-44E9-A594-85696A6C2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F098D-5A2E-E9E9-00AA-AEC804EA0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4402667"/>
            <a:ext cx="8133478" cy="940240"/>
          </a:xfrm>
        </p:spPr>
        <p:txBody>
          <a:bodyPr>
            <a:normAutofit/>
          </a:bodyPr>
          <a:lstStyle/>
          <a:p>
            <a:r>
              <a:rPr lang="en-US" sz="4800" dirty="0"/>
              <a:t>Training/Validating/Testing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361E2-4416-704D-5EBD-60E0FED98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5342302"/>
            <a:ext cx="8133478" cy="406566"/>
          </a:xfrm>
        </p:spPr>
        <p:txBody>
          <a:bodyPr>
            <a:normAutofit/>
          </a:bodyPr>
          <a:lstStyle/>
          <a:p>
            <a:r>
              <a:rPr lang="en-US" sz="1800" dirty="0" err="1"/>
              <a:t>Zybooks</a:t>
            </a:r>
            <a:r>
              <a:rPr lang="en-US" sz="1800" dirty="0"/>
              <a:t> 8-2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E62B6A-C5F9-4D52-9F66-877735827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F95C49-E748-4D32-8417-22E5B6A6F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AE10EC-5E3B-4FC0-B43F-1E445000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0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0F58-F3EC-22C6-E6ED-198EA9A2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E690-D475-D40B-8703-37F06B207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Supervised: Trained on Labeled Data</a:t>
            </a:r>
          </a:p>
          <a:p>
            <a:pPr lvl="1"/>
            <a:r>
              <a:rPr lang="en-US" dirty="0"/>
              <a:t>Example: Regression</a:t>
            </a:r>
          </a:p>
          <a:p>
            <a:r>
              <a:rPr lang="en-US" dirty="0"/>
              <a:t>Unsupervised: Trained on Unlabeled Data</a:t>
            </a:r>
          </a:p>
          <a:p>
            <a:pPr lvl="1"/>
            <a:r>
              <a:rPr lang="en-US" dirty="0"/>
              <a:t>Example: K-Means</a:t>
            </a:r>
          </a:p>
          <a:p>
            <a:pPr lvl="2"/>
            <a:r>
              <a:rPr lang="en-US" dirty="0"/>
              <a:t>Given data but no labels, K-Means can discover clusters</a:t>
            </a:r>
          </a:p>
          <a:p>
            <a:pPr lvl="3"/>
            <a:r>
              <a:rPr lang="en-US" dirty="0"/>
              <a:t>Budget-Conscious Shoppers vs. High-Spending Occasional Buyers</a:t>
            </a:r>
          </a:p>
        </p:txBody>
      </p:sp>
    </p:spTree>
    <p:extLst>
      <p:ext uri="{BB962C8B-B14F-4D97-AF65-F5344CB8AC3E}">
        <p14:creationId xmlns:p14="http://schemas.microsoft.com/office/powerpoint/2010/main" val="162868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8B2D-DE34-19FD-0293-C87EF762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Supervised ML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0EB4-E0EC-6DAB-6650-AD480335A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Regression: used with numerical data</a:t>
            </a:r>
          </a:p>
          <a:p>
            <a:r>
              <a:rPr lang="en-US" dirty="0"/>
              <a:t>Classification: used with categorical values</a:t>
            </a:r>
          </a:p>
        </p:txBody>
      </p:sp>
    </p:spTree>
    <p:extLst>
      <p:ext uri="{BB962C8B-B14F-4D97-AF65-F5344CB8AC3E}">
        <p14:creationId xmlns:p14="http://schemas.microsoft.com/office/powerpoint/2010/main" val="387382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5E46-3AF9-1EDC-B8C7-BCF7D8FC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7C1A-58F9-18EB-A957-D07E1740E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estimating model parameters to make a prediction</a:t>
            </a:r>
          </a:p>
          <a:p>
            <a:pPr lvl="1"/>
            <a:r>
              <a:rPr lang="en-US" dirty="0"/>
              <a:t>We did this with slope and intercept parameters in linear regression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2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F409-463D-2D07-1260-EE10BF22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C220E-0F5B-FC14-85AC-84150ADE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iteratively with hyperparameter tuning</a:t>
            </a:r>
          </a:p>
          <a:p>
            <a:pPr lvl="1"/>
            <a:r>
              <a:rPr lang="en-US" b="1" dirty="0"/>
              <a:t>Learning rate (</a:t>
            </a:r>
            <a:r>
              <a:rPr lang="el-GR" b="1" dirty="0"/>
              <a:t>α)</a:t>
            </a:r>
            <a:r>
              <a:rPr lang="el-GR" dirty="0"/>
              <a:t> – </a:t>
            </a:r>
            <a:r>
              <a:rPr lang="en-US" dirty="0"/>
              <a:t>controls how big a step the algorithm takes when updating weights.</a:t>
            </a:r>
          </a:p>
          <a:p>
            <a:pPr lvl="1"/>
            <a:r>
              <a:rPr lang="en-US" b="1" dirty="0"/>
              <a:t>Number of epochs</a:t>
            </a:r>
            <a:r>
              <a:rPr lang="en-US" dirty="0"/>
              <a:t> – how many times the model sees the full training data during learning.</a:t>
            </a:r>
          </a:p>
          <a:p>
            <a:pPr lvl="1"/>
            <a:r>
              <a:rPr lang="en-US" b="1" dirty="0"/>
              <a:t>Regularization strength (</a:t>
            </a:r>
            <a:r>
              <a:rPr lang="el-GR" b="1" dirty="0"/>
              <a:t>λ)</a:t>
            </a:r>
            <a:r>
              <a:rPr lang="el-GR" dirty="0"/>
              <a:t> – </a:t>
            </a:r>
            <a:r>
              <a:rPr lang="en-US" dirty="0"/>
              <a:t>controls how much the model is penalized for complexity to prevent overfitting.</a:t>
            </a:r>
          </a:p>
          <a:p>
            <a:pPr lvl="1"/>
            <a:r>
              <a:rPr lang="en-US" b="1" dirty="0"/>
              <a:t>Feature selection</a:t>
            </a:r>
            <a:r>
              <a:rPr lang="en-US" dirty="0"/>
              <a:t> controls </a:t>
            </a:r>
            <a:r>
              <a:rPr lang="en-US" i="1" dirty="0"/>
              <a:t>what</a:t>
            </a:r>
            <a:r>
              <a:rPr lang="en-US" dirty="0"/>
              <a:t> a model learns from (which variables are included)</a:t>
            </a:r>
          </a:p>
          <a:p>
            <a:pPr lvl="1"/>
            <a:r>
              <a:rPr lang="en-US" b="1" dirty="0"/>
              <a:t>Optimizer choice</a:t>
            </a:r>
            <a:r>
              <a:rPr lang="en-US" dirty="0"/>
              <a:t> – determines </a:t>
            </a:r>
            <a:r>
              <a:rPr lang="en-US" b="1" dirty="0"/>
              <a:t>how the model updates its parameters</a:t>
            </a:r>
            <a:r>
              <a:rPr lang="en-US" dirty="0"/>
              <a:t> during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28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10ED-E3F7-B105-583A-B3F91F20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EAD7E-B904-7D72-623B-40D610B8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Evaluates the final model on unseen data (test set) to measure true performance and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33763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D89ED-2424-13DD-0674-4CAA270B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Training-Validation-Test Split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E998C8F1-20AD-9F6C-91EE-1AF27960C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3599316"/>
          </a:xfrm>
        </p:spPr>
        <p:txBody>
          <a:bodyPr>
            <a:normAutofit/>
          </a:bodyPr>
          <a:lstStyle/>
          <a:p>
            <a:r>
              <a:rPr lang="en-US" sz="1800" dirty="0"/>
              <a:t>Training Data: Used to fit a model</a:t>
            </a:r>
          </a:p>
          <a:p>
            <a:r>
              <a:rPr lang="en-US" sz="1800" b="1" dirty="0"/>
              <a:t>Validation Data: U</a:t>
            </a:r>
            <a:r>
              <a:rPr lang="en-US" sz="1800" dirty="0"/>
              <a:t>sed to evaluate model performance, adjust parameters or model settings, and conduct feature selection</a:t>
            </a:r>
          </a:p>
          <a:p>
            <a:r>
              <a:rPr lang="en-US" sz="1800" b="1" dirty="0"/>
              <a:t>Test Data:</a:t>
            </a:r>
            <a:r>
              <a:rPr lang="en-US" sz="1800" dirty="0"/>
              <a:t> Used to evaluate final model performance and compare different models.</a:t>
            </a:r>
          </a:p>
        </p:txBody>
      </p:sp>
      <p:pic>
        <p:nvPicPr>
          <p:cNvPr id="15" name="Picture 14" descr="A diagram of a training model&#10;&#10;AI-generated content may be incorrect.">
            <a:extLst>
              <a:ext uri="{FF2B5EF4-FFF2-40B4-BE49-F238E27FC236}">
                <a16:creationId xmlns:a16="http://schemas.microsoft.com/office/drawing/2014/main" id="{5CEE803F-252C-23B8-951E-8FEC1AC0C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434" y="825499"/>
            <a:ext cx="65024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E579-883C-C0A7-4FE7-3FA54329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Splits</a:t>
            </a:r>
          </a:p>
        </p:txBody>
      </p:sp>
      <p:pic>
        <p:nvPicPr>
          <p:cNvPr id="5" name="Content Placeholder 4" descr="A close-up of a pie chart&#10;&#10;AI-generated content may be incorrect.">
            <a:extLst>
              <a:ext uri="{FF2B5EF4-FFF2-40B4-BE49-F238E27FC236}">
                <a16:creationId xmlns:a16="http://schemas.microsoft.com/office/drawing/2014/main" id="{80CDF919-1C1C-84AD-E391-68992BCC4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4638" y="2701131"/>
            <a:ext cx="5346700" cy="2870200"/>
          </a:xfrm>
        </p:spPr>
      </p:pic>
    </p:spTree>
    <p:extLst>
      <p:ext uri="{BB962C8B-B14F-4D97-AF65-F5344CB8AC3E}">
        <p14:creationId xmlns:p14="http://schemas.microsoft.com/office/powerpoint/2010/main" val="269850891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237</Words>
  <Application>Microsoft Macintosh PowerPoint</Application>
  <PresentationFormat>Widescreen</PresentationFormat>
  <Paragraphs>30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Trebuchet MS</vt:lpstr>
      <vt:lpstr>Berlin</vt:lpstr>
      <vt:lpstr>Training/Validating/Testing</vt:lpstr>
      <vt:lpstr>Types of Machine Learning Algorithms</vt:lpstr>
      <vt:lpstr>Two Types of Supervised ML Algorithms</vt:lpstr>
      <vt:lpstr>Training</vt:lpstr>
      <vt:lpstr>Validating</vt:lpstr>
      <vt:lpstr>Testing</vt:lpstr>
      <vt:lpstr>Training-Validation-Test Split</vt:lpstr>
      <vt:lpstr>Splits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De Palma</dc:creator>
  <cp:lastModifiedBy>Paul De Palma</cp:lastModifiedBy>
  <cp:revision>4</cp:revision>
  <dcterms:created xsi:type="dcterms:W3CDTF">2025-10-26T20:18:20Z</dcterms:created>
  <dcterms:modified xsi:type="dcterms:W3CDTF">2025-10-28T06:59:31Z</dcterms:modified>
</cp:coreProperties>
</file>